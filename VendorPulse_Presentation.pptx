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2800" b="1">
                <a:solidFill>
                  <a:srgbClr val="5A4B3C"/>
                </a:solidFill>
              </a:defRPr>
            </a:pPr>
            <a:r>
              <a:t>College name and college logo</a:t>
            </a:r>
          </a:p>
          <a:p/>
          <a:p>
            <a:r>
              <a:t>VENDORPULSE: A FULL-STACK SUPPLIER MANAGEMENT AND PROCUREMENT PLATFORM</a:t>
            </a:r>
          </a:p>
        </p:txBody>
      </p:sp>
      <p:sp>
        <p:nvSpPr>
          <p:cNvPr id="3" name="Subtitle 2"/>
          <p:cNvSpPr>
            <a:spLocks noGrp="1"/>
          </p:cNvSpPr>
          <p:nvPr>
            <p:ph type="subTitle" idx="1"/>
          </p:nvPr>
        </p:nvSpPr>
        <p:spPr/>
        <p:txBody>
          <a:bodyPr/>
          <a:lstStyle/>
          <a:p>
            <a:pPr>
              <a:defRPr sz="2200"/>
            </a:pPr>
            <a:r>
              <a:t>Computer Science and Engineering</a:t>
            </a:r>
          </a:p>
          <a:p/>
          <a:p>
            <a:r>
              <a:t>PRESENTED BY: [Student Name]        Under the guidance of: [Guide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5A4B3C"/>
                </a:solidFill>
              </a:defRPr>
            </a:pPr>
            <a:r>
              <a:t>CONTENTS :</a:t>
            </a:r>
          </a:p>
        </p:txBody>
      </p:sp>
      <p:sp>
        <p:nvSpPr>
          <p:cNvPr id="3" name="Content Placeholder 2"/>
          <p:cNvSpPr>
            <a:spLocks noGrp="1"/>
          </p:cNvSpPr>
          <p:nvPr>
            <p:ph idx="1"/>
          </p:nvPr>
        </p:nvSpPr>
        <p:spPr/>
        <p:txBody>
          <a:bodyPr/>
          <a:lstStyle/>
          <a:p>
            <a:pPr>
              <a:spcAft>
                <a:spcPts val="1400"/>
              </a:spcAft>
              <a:defRPr sz="1800"/>
            </a:pPr>
            <a:r>
              <a:t>o Title</a:t>
            </a:r>
          </a:p>
          <a:p>
            <a:pPr>
              <a:spcAft>
                <a:spcPts val="1400"/>
              </a:spcAft>
              <a:defRPr sz="1800"/>
            </a:pPr>
            <a:r>
              <a:t>o Abstract</a:t>
            </a:r>
          </a:p>
          <a:p>
            <a:pPr>
              <a:spcAft>
                <a:spcPts val="1400"/>
              </a:spcAft>
              <a:defRPr sz="1800"/>
            </a:pPr>
            <a:r>
              <a:t>o Introduction</a:t>
            </a:r>
          </a:p>
          <a:p>
            <a:pPr>
              <a:spcAft>
                <a:spcPts val="1400"/>
              </a:spcAft>
              <a:defRPr sz="1800"/>
            </a:pPr>
            <a:r>
              <a:t>o Literature survey</a:t>
            </a:r>
          </a:p>
          <a:p>
            <a:pPr>
              <a:spcAft>
                <a:spcPts val="1400"/>
              </a:spcAft>
              <a:defRPr sz="1800"/>
            </a:pPr>
            <a:r>
              <a:t>o Existing system and Disadvantages</a:t>
            </a:r>
          </a:p>
          <a:p>
            <a:pPr>
              <a:spcAft>
                <a:spcPts val="1400"/>
              </a:spcAft>
              <a:defRPr sz="1800"/>
            </a:pPr>
            <a:r>
              <a:t>o Proposed system and Advantages</a:t>
            </a:r>
          </a:p>
          <a:p>
            <a:pPr>
              <a:spcAft>
                <a:spcPts val="1400"/>
              </a:spcAft>
              <a:defRPr sz="1800"/>
            </a:pPr>
            <a:r>
              <a:t>o System requirements</a:t>
            </a:r>
          </a:p>
          <a:p>
            <a:pPr>
              <a:spcAft>
                <a:spcPts val="1400"/>
              </a:spcAft>
              <a:defRPr sz="1800"/>
            </a:pPr>
            <a:r>
              <a:t>o System Architecture</a:t>
            </a:r>
          </a:p>
          <a:p>
            <a:pPr>
              <a:spcAft>
                <a:spcPts val="1400"/>
              </a:spcAft>
              <a:defRPr sz="1800"/>
            </a:pPr>
            <a:r>
              <a:t>o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5A4B3C"/>
                </a:solidFill>
              </a:defRPr>
            </a:pPr>
            <a:r>
              <a:t>ABSTRACT</a:t>
            </a:r>
          </a:p>
        </p:txBody>
      </p:sp>
      <p:sp>
        <p:nvSpPr>
          <p:cNvPr id="3" name="Content Placeholder 2"/>
          <p:cNvSpPr>
            <a:spLocks noGrp="1"/>
          </p:cNvSpPr>
          <p:nvPr>
            <p:ph idx="1"/>
          </p:nvPr>
        </p:nvSpPr>
        <p:spPr/>
        <p:txBody>
          <a:bodyPr/>
          <a:lstStyle/>
          <a:p>
            <a:pPr>
              <a:spcAft>
                <a:spcPts val="1400"/>
              </a:spcAft>
              <a:defRPr sz="1800"/>
            </a:pPr>
            <a:r>
              <a:t>VendorPulse is a comprehensive full-stack web application designed to streamline supplier management, procurement tracking, and quality assessment. Managing vendors manually or across disparate systems often leads to delayed deliveries, compromised quality, and inefficient risk management. </a:t>
            </a:r>
          </a:p>
          <a:p>
            <a:pPr>
              <a:spcAft>
                <a:spcPts val="1400"/>
              </a:spcAft>
              <a:defRPr sz="1800"/>
            </a:pPr>
          </a:p>
          <a:p>
            <a:pPr>
              <a:spcAft>
                <a:spcPts val="1400"/>
              </a:spcAft>
              <a:defRPr sz="1800"/>
            </a:pPr>
            <a:r>
              <a:t>This project proposes an integrated platform featuring automated KPI evaluation, real-time risk alerts, and data-driven supplier ranking. Built using the MERN stack (MongoDB, Express.js, React.js, Node.js), VendorPulse provides an intuitive dashboard with graphical analytics to facilitate quick decision-making. By leveraging automated assessments and real-time monitoring, organizations can significantly improve their supply chain reliability and operational efficiency.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5A4B3C"/>
                </a:solidFill>
              </a:defRPr>
            </a:pPr>
            <a:r>
              <a:t>INTRODUCTION</a:t>
            </a:r>
          </a:p>
        </p:txBody>
      </p:sp>
      <p:sp>
        <p:nvSpPr>
          <p:cNvPr id="3" name="Content Placeholder 2"/>
          <p:cNvSpPr>
            <a:spLocks noGrp="1"/>
          </p:cNvSpPr>
          <p:nvPr>
            <p:ph idx="1"/>
          </p:nvPr>
        </p:nvSpPr>
        <p:spPr/>
        <p:txBody>
          <a:bodyPr/>
          <a:lstStyle/>
          <a:p>
            <a:pPr>
              <a:spcAft>
                <a:spcPts val="1400"/>
              </a:spcAft>
              <a:defRPr sz="1800"/>
            </a:pPr>
            <a:r>
              <a:t>Effective supplier management is critical to maintaining a robust supply chain. Traditional procurement systems rely heavily on manual data entry, fragmented communication, and subjective evaluation methods.</a:t>
            </a:r>
          </a:p>
          <a:p>
            <a:pPr>
              <a:spcAft>
                <a:spcPts val="1400"/>
              </a:spcAft>
              <a:defRPr sz="1800"/>
            </a:pPr>
          </a:p>
          <a:p>
            <a:pPr>
              <a:spcAft>
                <a:spcPts val="1400"/>
              </a:spcAft>
              <a:defRPr sz="1800"/>
            </a:pPr>
            <a:r>
              <a:t>This project introduces VendorPulse, an automated, objective, and efficient supplier evaluation platform. It centralizes vendor data, purchase orders, quality inspections, and dynamic performance scoring (delivery, quality, cost, and responsiveness). The application incorporates a modern React frontend for enhanced user experience and a secure Node.js backend. This platform aims to reduce supply chain disruptions by proactively identifying high-risk vendors and recommending optimal suppliers.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5A4B3C"/>
                </a:solidFill>
              </a:defRPr>
            </a:pPr>
            <a:r>
              <a:t>LITERATURE SURVEY :</a:t>
            </a:r>
          </a:p>
        </p:txBody>
      </p:sp>
      <p:sp>
        <p:nvSpPr>
          <p:cNvPr id="3" name="Content Placeholder 2"/>
          <p:cNvSpPr>
            <a:spLocks noGrp="1"/>
          </p:cNvSpPr>
          <p:nvPr>
            <p:ph idx="1"/>
          </p:nvPr>
        </p:nvSpPr>
        <p:spPr/>
        <p:txBody>
          <a:bodyPr/>
          <a:lstStyle/>
          <a:p>
            <a:pPr>
              <a:spcAft>
                <a:spcPts val="1400"/>
              </a:spcAft>
              <a:defRPr sz="1800"/>
            </a:pPr>
          </a:p>
        </p:txBody>
      </p:sp>
      <p:graphicFrame>
        <p:nvGraphicFramePr>
          <p:cNvPr id="4" name="Table 3"/>
          <p:cNvGraphicFramePr>
            <a:graphicFrameLocks noGrp="1"/>
          </p:cNvGraphicFramePr>
          <p:nvPr/>
        </p:nvGraphicFramePr>
        <p:xfrm>
          <a:off x="457200" y="1371600"/>
          <a:ext cx="8229600" cy="3657600"/>
        </p:xfrm>
        <a:graphic>
          <a:graphicData uri="http://schemas.openxmlformats.org/drawingml/2006/table">
            <a:tbl>
              <a:tblPr firstRow="1" bandRow="1">
                <a:tableStyleId>{5C22544A-7EE6-4342-B048-85BDC9FD1C3A}</a:tableStyleId>
              </a:tblPr>
              <a:tblGrid>
                <a:gridCol w="1645920"/>
                <a:gridCol w="1645920"/>
                <a:gridCol w="1645920"/>
                <a:gridCol w="1645920"/>
                <a:gridCol w="1645920"/>
              </a:tblGrid>
              <a:tr h="914400">
                <a:tc>
                  <a:txBody>
                    <a:bodyPr/>
                    <a:lstStyle/>
                    <a:p>
                      <a:r>
                        <a:t>AUTHOR</a:t>
                      </a:r>
                    </a:p>
                  </a:txBody>
                  <a:tcPr/>
                </a:tc>
                <a:tc>
                  <a:txBody>
                    <a:bodyPr/>
                    <a:lstStyle/>
                    <a:p>
                      <a:r>
                        <a:t>YEAR OF PUBLICATION</a:t>
                      </a:r>
                    </a:p>
                  </a:txBody>
                  <a:tcPr/>
                </a:tc>
                <a:tc>
                  <a:txBody>
                    <a:bodyPr/>
                    <a:lstStyle/>
                    <a:p>
                      <a:r>
                        <a:t>DESCRIPTION</a:t>
                      </a:r>
                    </a:p>
                  </a:txBody>
                  <a:tcPr/>
                </a:tc>
                <a:tc>
                  <a:txBody>
                    <a:bodyPr/>
                    <a:lstStyle/>
                    <a:p>
                      <a:r>
                        <a:t>PROS</a:t>
                      </a:r>
                    </a:p>
                  </a:txBody>
                  <a:tcPr/>
                </a:tc>
                <a:tc>
                  <a:txBody>
                    <a:bodyPr/>
                    <a:lstStyle/>
                    <a:p>
                      <a:r>
                        <a:t>CONS</a:t>
                      </a:r>
                    </a:p>
                  </a:txBody>
                  <a:tcPr/>
                </a:tc>
              </a:tr>
              <a:tr h="914400">
                <a:tc>
                  <a:txBody>
                    <a:bodyPr/>
                    <a:lstStyle/>
                    <a:p>
                      <a:r>
                        <a:t>Smith et al.</a:t>
                      </a:r>
                    </a:p>
                  </a:txBody>
                  <a:tcPr/>
                </a:tc>
                <a:tc>
                  <a:txBody>
                    <a:bodyPr/>
                    <a:lstStyle/>
                    <a:p>
                      <a:r>
                        <a:t>2019</a:t>
                      </a:r>
                    </a:p>
                  </a:txBody>
                  <a:tcPr/>
                </a:tc>
                <a:tc>
                  <a:txBody>
                    <a:bodyPr/>
                    <a:lstStyle/>
                    <a:p>
                      <a:r>
                        <a:t>Evaluated traditional ERP systems for procurement.</a:t>
                      </a:r>
                    </a:p>
                  </a:txBody>
                  <a:tcPr/>
                </a:tc>
                <a:tc>
                  <a:txBody>
                    <a:bodyPr/>
                    <a:lstStyle/>
                    <a:p>
                      <a:r>
                        <a:t>Centralized database for large enterprises.</a:t>
                      </a:r>
                    </a:p>
                  </a:txBody>
                  <a:tcPr/>
                </a:tc>
                <a:tc>
                  <a:txBody>
                    <a:bodyPr/>
                    <a:lstStyle/>
                    <a:p>
                      <a:r>
                        <a:t>Expensive, complex, and lacks agile KPI tracking.</a:t>
                      </a:r>
                    </a:p>
                  </a:txBody>
                  <a:tcPr/>
                </a:tc>
              </a:tr>
              <a:tr h="914400">
                <a:tc>
                  <a:txBody>
                    <a:bodyPr/>
                    <a:lstStyle/>
                    <a:p>
                      <a:r>
                        <a:t>Johnson &amp; Lee</a:t>
                      </a:r>
                    </a:p>
                  </a:txBody>
                  <a:tcPr/>
                </a:tc>
                <a:tc>
                  <a:txBody>
                    <a:bodyPr/>
                    <a:lstStyle/>
                    <a:p>
                      <a:r>
                        <a:t>2020</a:t>
                      </a:r>
                    </a:p>
                  </a:txBody>
                  <a:tcPr/>
                </a:tc>
                <a:tc>
                  <a:txBody>
                    <a:bodyPr/>
                    <a:lstStyle/>
                    <a:p>
                      <a:r>
                        <a:t>Proposed manual KPI scorecards for vendors.</a:t>
                      </a:r>
                    </a:p>
                  </a:txBody>
                  <a:tcPr/>
                </a:tc>
                <a:tc>
                  <a:txBody>
                    <a:bodyPr/>
                    <a:lstStyle/>
                    <a:p>
                      <a:r>
                        <a:t>Easy to understand and implement initially.</a:t>
                      </a:r>
                    </a:p>
                  </a:txBody>
                  <a:tcPr/>
                </a:tc>
                <a:tc>
                  <a:txBody>
                    <a:bodyPr/>
                    <a:lstStyle/>
                    <a:p>
                      <a:r>
                        <a:t>Highly subjective and time-consuming to update.</a:t>
                      </a:r>
                    </a:p>
                  </a:txBody>
                  <a:tcPr/>
                </a:tc>
              </a:tr>
              <a:tr h="914400">
                <a:tc>
                  <a:txBody>
                    <a:bodyPr/>
                    <a:lstStyle/>
                    <a:p>
                      <a:r>
                        <a:t>Gupta et al.</a:t>
                      </a:r>
                    </a:p>
                  </a:txBody>
                  <a:tcPr/>
                </a:tc>
                <a:tc>
                  <a:txBody>
                    <a:bodyPr/>
                    <a:lstStyle/>
                    <a:p>
                      <a:r>
                        <a:t>2021</a:t>
                      </a:r>
                    </a:p>
                  </a:txBody>
                  <a:tcPr/>
                </a:tc>
                <a:tc>
                  <a:txBody>
                    <a:bodyPr/>
                    <a:lstStyle/>
                    <a:p>
                      <a:r>
                        <a:t>Investigated standalone ML tools for risk prediction.</a:t>
                      </a:r>
                    </a:p>
                  </a:txBody>
                  <a:tcPr/>
                </a:tc>
                <a:tc>
                  <a:txBody>
                    <a:bodyPr/>
                    <a:lstStyle/>
                    <a:p>
                      <a:r>
                        <a:t>High accuracy in predicting delivery delays.</a:t>
                      </a:r>
                    </a:p>
                  </a:txBody>
                  <a:tcPr/>
                </a:tc>
                <a:tc>
                  <a:txBody>
                    <a:bodyPr/>
                    <a:lstStyle/>
                    <a:p>
                      <a:r>
                        <a:t>Hard to integrate into daily procurement workflows.</a:t>
                      </a:r>
                    </a:p>
                  </a:txBody>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5A4B3C"/>
                </a:solidFill>
              </a:defRPr>
            </a:pPr>
            <a:r>
              <a:t>EXISTING SYSTEM :</a:t>
            </a:r>
          </a:p>
        </p:txBody>
      </p:sp>
      <p:sp>
        <p:nvSpPr>
          <p:cNvPr id="3" name="Content Placeholder 2"/>
          <p:cNvSpPr>
            <a:spLocks noGrp="1"/>
          </p:cNvSpPr>
          <p:nvPr>
            <p:ph idx="1"/>
          </p:nvPr>
        </p:nvSpPr>
        <p:spPr/>
        <p:txBody>
          <a:bodyPr/>
          <a:lstStyle/>
          <a:p>
            <a:pPr>
              <a:spcAft>
                <a:spcPts val="1400"/>
              </a:spcAft>
              <a:defRPr sz="1800"/>
            </a:pPr>
            <a:r>
              <a:t>Current supplier management processes often involve disparate tools like spreadsheets, basic CRM software, and email chains.</a:t>
            </a:r>
          </a:p>
          <a:p>
            <a:pPr>
              <a:spcAft>
                <a:spcPts val="1400"/>
              </a:spcAft>
              <a:defRPr sz="1800"/>
            </a:pPr>
          </a:p>
          <a:p>
            <a:pPr>
              <a:spcAft>
                <a:spcPts val="1400"/>
              </a:spcAft>
              <a:defRPr sz="1800"/>
            </a:pPr>
            <a:r>
              <a:t>A number of the classification techniques used are:</a:t>
            </a:r>
          </a:p>
          <a:p>
            <a:pPr>
              <a:spcAft>
                <a:spcPts val="1400"/>
              </a:spcAft>
              <a:defRPr sz="1800"/>
            </a:pPr>
          </a:p>
          <a:p>
            <a:pPr>
              <a:spcAft>
                <a:spcPts val="1400"/>
              </a:spcAft>
              <a:defRPr sz="1800"/>
            </a:pPr>
            <a:r>
              <a:t>o Manual KPI Tracking – Assessing vendors based on periodic manual reviews of invoices and delivery receipts.</a:t>
            </a:r>
          </a:p>
          <a:p>
            <a:pPr>
              <a:spcAft>
                <a:spcPts val="1400"/>
              </a:spcAft>
              <a:defRPr sz="1800"/>
            </a:pPr>
            <a:r>
              <a:t>o Disconnected ERP Modules – Using legacy systems that handle purchase orders but lack built-in dynamic risk evaluation.</a:t>
            </a:r>
          </a:p>
          <a:p>
            <a:pPr>
              <a:spcAft>
                <a:spcPts val="1400"/>
              </a:spcAft>
              <a:defRPr sz="1800"/>
            </a:pPr>
            <a:r>
              <a:t>o Subjective Evaluation – Relying on human judgment and past relationships rather than empirical, data-driven scoring matrices.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5A4B3C"/>
                </a:solidFill>
              </a:defRPr>
            </a:pPr>
            <a:r>
              <a:t>DISADVANTAGES :</a:t>
            </a:r>
          </a:p>
        </p:txBody>
      </p:sp>
      <p:sp>
        <p:nvSpPr>
          <p:cNvPr id="3" name="Content Placeholder 2"/>
          <p:cNvSpPr>
            <a:spLocks noGrp="1"/>
          </p:cNvSpPr>
          <p:nvPr>
            <p:ph idx="1"/>
          </p:nvPr>
        </p:nvSpPr>
        <p:spPr/>
        <p:txBody>
          <a:bodyPr/>
          <a:lstStyle/>
          <a:p>
            <a:pPr>
              <a:spcAft>
                <a:spcPts val="1400"/>
              </a:spcAft>
              <a:defRPr sz="1800"/>
            </a:pPr>
            <a:r>
              <a:t>1. Data Fragmentation – Information is scattered across emails and spreadsheets, making a unified view impossible.</a:t>
            </a:r>
          </a:p>
          <a:p>
            <a:pPr>
              <a:spcAft>
                <a:spcPts val="1400"/>
              </a:spcAft>
              <a:defRPr sz="1800"/>
            </a:pPr>
          </a:p>
          <a:p>
            <a:pPr>
              <a:spcAft>
                <a:spcPts val="1400"/>
              </a:spcAft>
              <a:defRPr sz="1800"/>
            </a:pPr>
            <a:r>
              <a:t>2. Delayed Risk Identification – Relying on periodic reviews means supply chain risks are identified only after disruptions occur.</a:t>
            </a:r>
          </a:p>
          <a:p>
            <a:pPr>
              <a:spcAft>
                <a:spcPts val="1400"/>
              </a:spcAft>
              <a:defRPr sz="1800"/>
            </a:pPr>
          </a:p>
          <a:p>
            <a:pPr>
              <a:spcAft>
                <a:spcPts val="1400"/>
              </a:spcAft>
              <a:defRPr sz="1800"/>
            </a:pPr>
            <a:r>
              <a:t>3. Subjective Decision Making – Manual evaluations lead to biased vendor selections, reducing overall supply chain quality.</a:t>
            </a:r>
          </a:p>
          <a:p>
            <a:pPr>
              <a:spcAft>
                <a:spcPts val="1400"/>
              </a:spcAft>
              <a:defRPr sz="1800"/>
            </a:pPr>
          </a:p>
          <a:p>
            <a:pPr>
              <a:spcAft>
                <a:spcPts val="1400"/>
              </a:spcAft>
              <a:defRPr sz="1800"/>
            </a:pPr>
            <a:r>
              <a:t>4. Lack of Automation – Generating reports and tracking real-time purchase order statuses requires significant manual administrative effort.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5A4B3C"/>
                </a:solidFill>
              </a:defRPr>
            </a:pPr>
            <a:r>
              <a:t>PROPOSED SYSTEM :</a:t>
            </a:r>
          </a:p>
        </p:txBody>
      </p:sp>
      <p:sp>
        <p:nvSpPr>
          <p:cNvPr id="3" name="Content Placeholder 2"/>
          <p:cNvSpPr>
            <a:spLocks noGrp="1"/>
          </p:cNvSpPr>
          <p:nvPr>
            <p:ph idx="1"/>
          </p:nvPr>
        </p:nvSpPr>
        <p:spPr/>
        <p:txBody>
          <a:bodyPr/>
          <a:lstStyle/>
          <a:p>
            <a:pPr>
              <a:spcAft>
                <a:spcPts val="1400"/>
              </a:spcAft>
              <a:defRPr sz="1800"/>
            </a:pPr>
            <a:r>
              <a:t>• The proposed system integrates supplier tracking, automated KPI scoring, and purchase order management into a single MERN stack application.</a:t>
            </a:r>
          </a:p>
          <a:p>
            <a:pPr>
              <a:spcAft>
                <a:spcPts val="1400"/>
              </a:spcAft>
              <a:defRPr sz="1800"/>
            </a:pPr>
          </a:p>
          <a:p>
            <a:pPr>
              <a:spcAft>
                <a:spcPts val="1400"/>
              </a:spcAft>
              <a:defRPr sz="1800"/>
            </a:pPr>
            <a:r>
              <a:t>• It features dynamic performance evaluation algorithms that automatically recalculate a vendor's risk level based on recent quality inspections and delivery times.</a:t>
            </a:r>
          </a:p>
          <a:p>
            <a:pPr>
              <a:spcAft>
                <a:spcPts val="1400"/>
              </a:spcAft>
              <a:defRPr sz="1800"/>
            </a:pPr>
          </a:p>
          <a:p>
            <a:pPr>
              <a:spcAft>
                <a:spcPts val="1400"/>
              </a:spcAft>
              <a:defRPr sz="1800"/>
            </a:pPr>
            <a:r>
              <a:t>• Real-time notifications alert management when a supplier’s performance drops below a critical threshold.</a:t>
            </a:r>
          </a:p>
          <a:p>
            <a:pPr>
              <a:spcAft>
                <a:spcPts val="1400"/>
              </a:spcAft>
              <a:defRPr sz="1800"/>
            </a:pPr>
          </a:p>
          <a:p>
            <a:pPr>
              <a:spcAft>
                <a:spcPts val="1400"/>
              </a:spcAft>
              <a:defRPr sz="1800"/>
            </a:pPr>
            <a:r>
              <a:t>• A modern, responsive React frontend utilizing data visualization provides stakeholders with an immediate, clear overview of supply chain health.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5A4B3C"/>
                </a:solidFill>
              </a:defRPr>
            </a:pPr>
            <a:r>
              <a:t>ADVANTAGES :</a:t>
            </a:r>
          </a:p>
        </p:txBody>
      </p:sp>
      <p:sp>
        <p:nvSpPr>
          <p:cNvPr id="3" name="Content Placeholder 2"/>
          <p:cNvSpPr>
            <a:spLocks noGrp="1"/>
          </p:cNvSpPr>
          <p:nvPr>
            <p:ph idx="1"/>
          </p:nvPr>
        </p:nvSpPr>
        <p:spPr/>
        <p:txBody>
          <a:bodyPr/>
          <a:lstStyle/>
          <a:p>
            <a:pPr>
              <a:spcAft>
                <a:spcPts val="1400"/>
              </a:spcAft>
              <a:defRPr sz="1800"/>
            </a:pPr>
            <a:r>
              <a:t>1. Real-time Analytics – Continuous monitoring of vendor KPIs reduces the risk of supply chain failure.</a:t>
            </a:r>
          </a:p>
          <a:p>
            <a:pPr>
              <a:spcAft>
                <a:spcPts val="1400"/>
              </a:spcAft>
              <a:defRPr sz="1800"/>
            </a:pPr>
          </a:p>
          <a:p>
            <a:pPr>
              <a:spcAft>
                <a:spcPts val="1400"/>
              </a:spcAft>
              <a:defRPr sz="1800"/>
            </a:pPr>
            <a:r>
              <a:t>2. Objective Evaluation – Data-driven automated scoring eliminates human bias in supplier selection.</a:t>
            </a:r>
          </a:p>
          <a:p>
            <a:pPr>
              <a:spcAft>
                <a:spcPts val="1400"/>
              </a:spcAft>
              <a:defRPr sz="1800"/>
            </a:pPr>
          </a:p>
          <a:p>
            <a:pPr>
              <a:spcAft>
                <a:spcPts val="1400"/>
              </a:spcAft>
              <a:defRPr sz="1800"/>
            </a:pPr>
            <a:r>
              <a:t>3. Centralized Management – All purchase orders, quality inspections, and vendor communications are housed in one platform.</a:t>
            </a:r>
          </a:p>
          <a:p>
            <a:pPr>
              <a:spcAft>
                <a:spcPts val="1400"/>
              </a:spcAft>
              <a:defRPr sz="1800"/>
            </a:pPr>
          </a:p>
          <a:p>
            <a:pPr>
              <a:spcAft>
                <a:spcPts val="1400"/>
              </a:spcAft>
              <a:defRPr sz="1800"/>
            </a:pPr>
            <a:r>
              <a:t>4. Scalability &amp; Automation – The MERN architecture allows the system to easily scale, handling large volumes of procurement data rapidly.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5A4B3C"/>
                </a:solidFill>
              </a:defRPr>
            </a:pPr>
            <a:r>
              <a:t>SYSTEM REQUIREMENTS &amp; SPECIFICATIONS</a:t>
            </a:r>
          </a:p>
        </p:txBody>
      </p:sp>
      <p:sp>
        <p:nvSpPr>
          <p:cNvPr id="3" name="Content Placeholder 2"/>
          <p:cNvSpPr>
            <a:spLocks noGrp="1"/>
          </p:cNvSpPr>
          <p:nvPr>
            <p:ph idx="1"/>
          </p:nvPr>
        </p:nvSpPr>
        <p:spPr/>
        <p:txBody>
          <a:bodyPr/>
          <a:lstStyle/>
          <a:p>
            <a:pPr>
              <a:spcAft>
                <a:spcPts val="1400"/>
              </a:spcAft>
              <a:defRPr sz="1800"/>
            </a:pPr>
            <a:r>
              <a:t>HARDWARE SPECIFICATIONS:</a:t>
            </a:r>
          </a:p>
          <a:p>
            <a:pPr>
              <a:spcAft>
                <a:spcPts val="1400"/>
              </a:spcAft>
              <a:defRPr sz="1800"/>
            </a:pPr>
            <a:r>
              <a:t>PROCESSOR : Intel Core i3 or equivalent (Minimum)</a:t>
            </a:r>
          </a:p>
          <a:p>
            <a:pPr>
              <a:spcAft>
                <a:spcPts val="1400"/>
              </a:spcAft>
              <a:defRPr sz="1800"/>
            </a:pPr>
            <a:r>
              <a:t>RAM : 4 GB (8 GB Recommended)</a:t>
            </a:r>
          </a:p>
          <a:p>
            <a:pPr>
              <a:spcAft>
                <a:spcPts val="1400"/>
              </a:spcAft>
              <a:defRPr sz="1800"/>
            </a:pPr>
            <a:r>
              <a:t>HARD DISK : 50 GB free space</a:t>
            </a:r>
          </a:p>
          <a:p>
            <a:pPr>
              <a:spcAft>
                <a:spcPts val="1400"/>
              </a:spcAft>
              <a:defRPr sz="1800"/>
            </a:pPr>
            <a:r>
              <a:t>MONITOR : Standard resolution display</a:t>
            </a:r>
          </a:p>
          <a:p>
            <a:pPr>
              <a:spcAft>
                <a:spcPts val="1400"/>
              </a:spcAft>
              <a:defRPr sz="1800"/>
            </a:pPr>
          </a:p>
          <a:p>
            <a:pPr>
              <a:spcAft>
                <a:spcPts val="1400"/>
              </a:spcAft>
              <a:defRPr sz="1800"/>
            </a:pPr>
            <a:r>
              <a:t>SOFTWARE SPECIFICATIONS:</a:t>
            </a:r>
          </a:p>
          <a:p>
            <a:pPr>
              <a:spcAft>
                <a:spcPts val="1400"/>
              </a:spcAft>
              <a:defRPr sz="1800"/>
            </a:pPr>
            <a:r>
              <a:t>OPERATING SYSTEM : Windows / macOS / Linux</a:t>
            </a:r>
          </a:p>
          <a:p>
            <a:pPr>
              <a:spcAft>
                <a:spcPts val="1400"/>
              </a:spcAft>
              <a:defRPr sz="1800"/>
            </a:pPr>
            <a:r>
              <a:t>FRONTEND : React.js, Vite, HTML5, CSS3, Recharts</a:t>
            </a:r>
          </a:p>
          <a:p>
            <a:pPr>
              <a:spcAft>
                <a:spcPts val="1400"/>
              </a:spcAft>
              <a:defRPr sz="1800"/>
            </a:pPr>
            <a:r>
              <a:t>BACKEND : Node.js, Express.js</a:t>
            </a:r>
          </a:p>
          <a:p>
            <a:pPr>
              <a:spcAft>
                <a:spcPts val="1400"/>
              </a:spcAft>
              <a:defRPr sz="1800"/>
            </a:pPr>
            <a:r>
              <a:t>DATABASE : MongoDB</a:t>
            </a:r>
          </a:p>
          <a:p>
            <a:pPr>
              <a:spcAft>
                <a:spcPts val="1400"/>
              </a:spcAft>
              <a:defRPr sz="1800"/>
            </a:pPr>
            <a:r>
              <a:t>PROGRAMMING LANGUAGE : JavaScript (ES6+)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5A4B3C"/>
                </a:solidFill>
              </a:defRPr>
            </a:pPr>
            <a:r>
              <a:t>SYSTEM ARCHITECTURE :</a:t>
            </a:r>
          </a:p>
        </p:txBody>
      </p:sp>
      <p:sp>
        <p:nvSpPr>
          <p:cNvPr id="3" name="Content Placeholder 2"/>
          <p:cNvSpPr>
            <a:spLocks noGrp="1"/>
          </p:cNvSpPr>
          <p:nvPr>
            <p:ph idx="1"/>
          </p:nvPr>
        </p:nvSpPr>
        <p:spPr/>
        <p:txBody>
          <a:bodyPr/>
          <a:lstStyle/>
          <a:p>
            <a:pPr>
              <a:spcAft>
                <a:spcPts val="1400"/>
              </a:spcAft>
              <a:defRPr sz="1800"/>
            </a:pPr>
          </a:p>
          <a:p>
            <a:pPr>
              <a:spcAft>
                <a:spcPts val="1400"/>
              </a:spcAft>
              <a:defRPr sz="1800"/>
            </a:pPr>
          </a:p>
          <a:p>
            <a:pPr>
              <a:spcAft>
                <a:spcPts val="1400"/>
              </a:spcAft>
              <a:defRPr sz="1800"/>
            </a:pPr>
            <a:r>
              <a:t>        [ React Frontend ]  &lt;----&gt;  [ Express API / Node.js ]  &lt;----&gt;  [ MongoDB Database ]</a:t>
            </a:r>
          </a:p>
          <a:p>
            <a:pPr>
              <a:spcAft>
                <a:spcPts val="1400"/>
              </a:spcAft>
              <a:defRPr sz="1800"/>
            </a:pPr>
          </a:p>
          <a:p>
            <a:pPr>
              <a:spcAft>
                <a:spcPts val="1400"/>
              </a:spcAft>
              <a:defRPr sz="1800"/>
            </a:pPr>
          </a:p>
          <a:p>
            <a:pPr>
              <a:spcAft>
                <a:spcPts val="1400"/>
              </a:spcAft>
              <a:defRPr sz="1800"/>
            </a:pPr>
            <a:r>
              <a:t>(Note: You can insert a visual diagram of the MERN stack architecture here before presenting.)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b="1">
                <a:solidFill>
                  <a:srgbClr val="5A4B3C"/>
                </a:solidFill>
              </a:defRPr>
            </a:pPr>
            <a:r>
              <a:t>REFERENCES :</a:t>
            </a:r>
          </a:p>
        </p:txBody>
      </p:sp>
      <p:sp>
        <p:nvSpPr>
          <p:cNvPr id="3" name="Content Placeholder 2"/>
          <p:cNvSpPr>
            <a:spLocks noGrp="1"/>
          </p:cNvSpPr>
          <p:nvPr>
            <p:ph idx="1"/>
          </p:nvPr>
        </p:nvSpPr>
        <p:spPr/>
        <p:txBody>
          <a:bodyPr/>
          <a:lstStyle/>
          <a:p>
            <a:pPr>
              <a:spcAft>
                <a:spcPts val="1400"/>
              </a:spcAft>
              <a:defRPr sz="1800"/>
            </a:pPr>
            <a:r>
              <a:t>▪ React Documentation. Available online: https://react.dev/</a:t>
            </a:r>
          </a:p>
          <a:p>
            <a:pPr>
              <a:spcAft>
                <a:spcPts val="1400"/>
              </a:spcAft>
              <a:defRPr sz="1800"/>
            </a:pPr>
          </a:p>
          <a:p>
            <a:pPr>
              <a:spcAft>
                <a:spcPts val="1400"/>
              </a:spcAft>
              <a:defRPr sz="1800"/>
            </a:pPr>
            <a:r>
              <a:t>▪ MongoDB Manual. Available online: https://www.mongodb.com/docs/</a:t>
            </a:r>
          </a:p>
          <a:p>
            <a:pPr>
              <a:spcAft>
                <a:spcPts val="1400"/>
              </a:spcAft>
              <a:defRPr sz="1800"/>
            </a:pPr>
          </a:p>
          <a:p>
            <a:pPr>
              <a:spcAft>
                <a:spcPts val="1400"/>
              </a:spcAft>
              <a:defRPr sz="1800"/>
            </a:pPr>
            <a:r>
              <a:t>▪ Express Node.js Framework. Available online: https://expressjs.com/</a:t>
            </a:r>
          </a:p>
          <a:p>
            <a:pPr>
              <a:spcAft>
                <a:spcPts val="1400"/>
              </a:spcAft>
              <a:defRPr sz="1800"/>
            </a:pPr>
          </a:p>
          <a:p>
            <a:pPr>
              <a:spcAft>
                <a:spcPts val="1400"/>
              </a:spcAft>
              <a:defRPr sz="1800"/>
            </a:pPr>
            <a:r>
              <a:t>▪ Supply Chain Management Best Practices, Harvard Business Review. Available online: https://hbr.org/topic/supply-chain-management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5A4B3C"/>
                </a:solidFill>
              </a:defRPr>
            </a:pPr>
            <a:r>
              <a:t>THANK YOU !</a:t>
            </a:r>
          </a:p>
        </p:txBody>
      </p:sp>
      <p:sp>
        <p:nvSpPr>
          <p:cNvPr id="3" name="Subtitle 2"/>
          <p:cNvSpPr>
            <a:spLocks noGrp="1"/>
          </p:cNvSpPr>
          <p:nvPr>
            <p:ph type="subTitle" idx="1"/>
          </p:nvPr>
        </p:nvSpPr>
        <p:spPr/>
        <p:txBody>
          <a:bodyPr/>
          <a:lstStyle/>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